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74" r:id="rId3"/>
    <p:sldId id="257" r:id="rId4"/>
    <p:sldId id="273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76" r:id="rId13"/>
    <p:sldId id="275" r:id="rId14"/>
    <p:sldId id="265" r:id="rId15"/>
    <p:sldId id="277" r:id="rId16"/>
    <p:sldId id="272" r:id="rId17"/>
    <p:sldId id="27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535603-2EBA-4DF7-A7A4-29D7583AE5AF}" v="4" dt="2025-12-13T07:38:49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737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3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44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451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14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36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913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784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85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59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583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3499902-C364-4E33-B57E-1DC6A712CB02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ABEE267-3A0A-4F96-9B29-33F0AC4240C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58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1FD2E-C629-605E-C03A-D47C659AF6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800" dirty="0"/>
              <a:t>Chinook Project 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15F1C-658F-06CF-9418-D7C36BC64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202089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Exploring Chinook Database &amp; Strategy Analytics</a:t>
            </a:r>
          </a:p>
          <a:p>
            <a:r>
              <a:rPr lang="en-US" dirty="0">
                <a:solidFill>
                  <a:srgbClr val="FFC000"/>
                </a:solidFill>
              </a:rPr>
              <a:t>Prepared By: Ansh Verma</a:t>
            </a:r>
          </a:p>
          <a:p>
            <a:r>
              <a:rPr lang="en-US" dirty="0">
                <a:solidFill>
                  <a:srgbClr val="FFC000"/>
                </a:solidFill>
              </a:rPr>
              <a:t>Date: 13 December, 2025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555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A52E-A12B-E5C7-04D0-34790B31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08943-98DC-E28E-EBA2-9D5904689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Database Schema and Data Description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Insights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13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E12B0-7D5D-2FC0-4BEF-BAF3296D0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17F92-D31E-73AD-E6F6-EF79961C4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You are hired as a data analyst at Chinook, and your objective is to analyze music record sales data to gain insights and make recommendations for the company's strategy in the physical music market.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74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99962-E5B2-DD32-B781-CD451A7B5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Chinook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BEA29-11D6-B071-1BD9-519E0BA18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Leading Music Platform: Chinook is a recognized name in industry providing quality music to listeners.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Diverse Music Catalog: Offers a wide range of genres catering to wide range of audience.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Global Reach: Connects to customers with extensive international network.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Driven: Leverages customer and sales data to understand behavior and drive business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1906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76D0-AAA8-4021-6335-D66E2C958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27453-C688-1F9A-DAB1-0FDE2C0B2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Analyze </a:t>
            </a:r>
            <a:r>
              <a:rPr lang="en-US" dirty="0">
                <a:ea typeface="Times New Roman"/>
                <a:cs typeface="Times New Roman"/>
                <a:sym typeface="Times New Roman"/>
              </a:rPr>
              <a:t>customer behavior across regions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cs typeface="Times New Roman"/>
                <a:sym typeface="Times New Roman"/>
              </a:rPr>
              <a:t>Understand </a:t>
            </a:r>
            <a:r>
              <a:rPr lang="en-US" dirty="0">
                <a:ea typeface="Times New Roman"/>
                <a:cs typeface="Times New Roman"/>
                <a:sym typeface="Times New Roman"/>
              </a:rPr>
              <a:t>purchasing trends and churn rates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cs typeface="Times New Roman"/>
                <a:sym typeface="Times New Roman"/>
              </a:rPr>
              <a:t>Determine top-selling </a:t>
            </a:r>
            <a:r>
              <a:rPr lang="en-US" dirty="0">
                <a:ea typeface="EB Garamond"/>
                <a:cs typeface="EB Garamond"/>
                <a:sym typeface="EB Garamond"/>
              </a:rPr>
              <a:t>tracks, artists, and genres</a:t>
            </a:r>
            <a:r>
              <a:rPr lang="en-US" dirty="0"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n-US" dirty="0">
                <a:ea typeface="EB Garamond"/>
                <a:cs typeface="EB Garamond"/>
                <a:sym typeface="EB Garamond"/>
              </a:rPr>
              <a:t>in USA.</a:t>
            </a:r>
            <a:endParaRPr lang="en-US" dirty="0">
              <a:latin typeface="EB Garamond"/>
              <a:ea typeface="EB Garamond"/>
              <a:cs typeface="EB Garamond"/>
              <a:sym typeface="EB Garamond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cs typeface="Times New Roman"/>
                <a:sym typeface="Times New Roman"/>
              </a:rPr>
              <a:t>Recommend </a:t>
            </a:r>
            <a:r>
              <a:rPr lang="en-US" dirty="0">
                <a:ea typeface="EB Garamond"/>
                <a:cs typeface="EB Garamond"/>
                <a:sym typeface="EB Garamond"/>
              </a:rPr>
              <a:t>albums for promotion based on genre sales performance and customer preferences.</a:t>
            </a:r>
            <a:endParaRPr lang="en-US" dirty="0"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044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6722B-623A-2B08-671B-2B798586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2D5CC0-65CF-4A15-3E81-E50457FDBF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484" y="2021046"/>
            <a:ext cx="5517358" cy="36731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4346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11E6-A4B9-993B-9E34-DFDAE7F10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C48B50-0D63-9B7A-D539-E4245644AD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947" y="2497337"/>
            <a:ext cx="3962743" cy="27205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F842A34-6964-AA74-CA24-090978BD45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998" y="2283959"/>
            <a:ext cx="3985605" cy="31473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6133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B059-36FC-C66F-42E8-6E4E0AF08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EA2645B-391A-BA86-BECE-941A093BCB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275" y="2184890"/>
            <a:ext cx="4016088" cy="33454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729D745-712C-6038-258A-E5FD6EB088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653" y="2078201"/>
            <a:ext cx="4092295" cy="3558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073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6318-F9C7-BB20-602D-6C23E173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389C28-093A-988C-5370-2E8478AE71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83" y="2725957"/>
            <a:ext cx="8542760" cy="2263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2630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99BFF-7CBC-B73E-55E6-0091318B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Purchasing Behavior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1D797-7C0B-D326-BBCE-3D10FCB9DF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3979461" cy="359931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Long term users placed 305 orders with total spend of 2349.27.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Short term user placed 309 orders, slightly higher with total spend of 2360.16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Average spend order value (7.70 for long term and 7.63 for short term.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204B4B2-CEC1-4DB9-28FE-DAD6111B26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390903"/>
            <a:ext cx="4937125" cy="29334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3197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FD51-6753-D383-4EF0-EB1445CD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5 Artist By Total Sales in USA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2B05-3A8A-AD3B-75D4-3147B9BED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3994091" cy="3599316"/>
          </a:xfrm>
        </p:spPr>
        <p:txBody>
          <a:bodyPr/>
          <a:lstStyle/>
          <a:p>
            <a:r>
              <a:rPr lang="en-US" dirty="0"/>
              <a:t>Top 5 artist name by sum of total sales are as follow:</a:t>
            </a:r>
          </a:p>
          <a:p>
            <a:pPr lvl="1"/>
            <a:r>
              <a:rPr lang="en-US" dirty="0"/>
              <a:t>Van Halen: 525.69</a:t>
            </a:r>
          </a:p>
          <a:p>
            <a:pPr lvl="1"/>
            <a:r>
              <a:rPr lang="en-US" dirty="0"/>
              <a:t>Eric Clapton: 434.61</a:t>
            </a:r>
          </a:p>
          <a:p>
            <a:pPr lvl="1"/>
            <a:r>
              <a:rPr lang="en-US" dirty="0"/>
              <a:t>Nirvana: 424.71</a:t>
            </a:r>
          </a:p>
          <a:p>
            <a:pPr lvl="1"/>
            <a:r>
              <a:rPr lang="en-US" dirty="0"/>
              <a:t>The Rolling Stones: 398.97</a:t>
            </a:r>
          </a:p>
          <a:p>
            <a:pPr lvl="1"/>
            <a:r>
              <a:rPr lang="en-US" dirty="0"/>
              <a:t>Marvin Gaye: 397.09</a:t>
            </a:r>
          </a:p>
          <a:p>
            <a:pPr lvl="1"/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F4A76DD-CAE5-D55C-2C0E-1D58BBB260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119" y="2455424"/>
            <a:ext cx="4633362" cy="2804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2364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87D6-3270-BF84-B7F2-B025F01C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3 albums in USA to prioritize for advertising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B01D3-3F5E-AE51-746A-7EE461378C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Rock is the leading genre in USA as shown consistently in top 3.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Due to proven sales these 3 albums are primary candidate for advertising.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1C04E6-8F32-F88B-ECF6-AB89C95B0D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602" y="2443993"/>
            <a:ext cx="4572396" cy="2827265"/>
          </a:xfrm>
        </p:spPr>
      </p:pic>
    </p:spTree>
    <p:extLst>
      <p:ext uri="{BB962C8B-B14F-4D97-AF65-F5344CB8AC3E}">
        <p14:creationId xmlns:p14="http://schemas.microsoft.com/office/powerpoint/2010/main" val="871459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5E79F-B530-56FB-A9DA-B597035AA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Customers who purchased tracks from at least 3 different genres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C503E-4EDC-FC68-37DD-E9FC053624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Leonie Köhler is the only one to purchase tracks from 14 different genres.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 are many customers with 13 unique genres.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Majority of the people lies in the range of 10-12, with a small group buying in the range of 5-9 unique genres.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4C53BA-1D68-A86F-A595-D076EB7FB9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499" y="2478286"/>
            <a:ext cx="4648603" cy="27586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8859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EDC3-4CCC-CE6A-C223-BCD7C5DF7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Churn Rate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A8607B-665E-6729-14A6-CB790EC03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3" y="2336873"/>
            <a:ext cx="5189536" cy="359931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To analyze churn customer rate </a:t>
            </a:r>
            <a:r>
              <a:rPr lang="en-US" dirty="0">
                <a:cs typeface="Times New Roman" panose="02020603050405020304" pitchFamily="18" charset="0"/>
              </a:rPr>
              <a:t>,I defined churned customers as those who had not made a purchase within 6 Months.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cs typeface="Times New Roman" panose="02020603050405020304" pitchFamily="18" charset="0"/>
              </a:rPr>
              <a:t>With this data 27% of customer are giving churn rate.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2B03A7-209F-306B-6AE1-1B22651BB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48813" y="2419534"/>
            <a:ext cx="4610500" cy="27465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2376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FC131-6252-7856-3EAB-686FFCC3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spending of per customer by country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51440-402B-0E01-7152-BED5045F4D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Czech republic comes at the top of average spending per customer globally with a tally of 1591.92.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Denmark has the lowest spending per customer 196.02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1B29DF-B273-0BC1-29D7-CBE473DFF0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740" y="2443993"/>
            <a:ext cx="4618120" cy="2827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8365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0AE94-3B41-EC0A-E5AE-EB82D1A3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C8594-4AFC-9233-16C1-47498548E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2"/>
            <a:ext cx="9613861" cy="4290069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Data Integrity: Prioritize maintaining accurate and up-to-date data to generate reliable insights that drive informed decision-making.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Customer Loyalty: Long term </a:t>
            </a:r>
            <a:r>
              <a:rPr lang="en-US" dirty="0">
                <a:ea typeface="EB Garamond"/>
                <a:cs typeface="EB Garamond"/>
                <a:sym typeface="EB Garamond"/>
              </a:rPr>
              <a:t>users exhibit higher lifetime value; new users represent growth opportunities via personalization.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ea typeface="EB Garamond"/>
              <a:cs typeface="EB Garamond"/>
              <a:sym typeface="EB Garamond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ea typeface="EB Garamond"/>
                <a:sym typeface="EB Garamond"/>
              </a:rPr>
              <a:t>Retention &amp; Risk: High-Value customers </a:t>
            </a:r>
            <a:r>
              <a:rPr lang="en-US" dirty="0">
                <a:ea typeface="EB Garamond"/>
                <a:cs typeface="EB Garamond"/>
                <a:sym typeface="EB Garamond"/>
              </a:rPr>
              <a:t>require bespoke engagement; predictive modeling is recommended to mitigate churn.</a:t>
            </a:r>
          </a:p>
        </p:txBody>
      </p:sp>
    </p:spTree>
    <p:extLst>
      <p:ext uri="{BB962C8B-B14F-4D97-AF65-F5344CB8AC3E}">
        <p14:creationId xmlns:p14="http://schemas.microsoft.com/office/powerpoint/2010/main" val="538728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4FCBDB-BA76-F4B5-FCE0-29241F0B24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6053" y="2386838"/>
            <a:ext cx="5540220" cy="29415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6385610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174</TotalTime>
  <Words>481</Words>
  <Application>Microsoft Office PowerPoint</Application>
  <PresentationFormat>Widescreen</PresentationFormat>
  <Paragraphs>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Calibri Light</vt:lpstr>
      <vt:lpstr>EB Garamond</vt:lpstr>
      <vt:lpstr>Times New Roman</vt:lpstr>
      <vt:lpstr>Wingdings</vt:lpstr>
      <vt:lpstr>Retrospect</vt:lpstr>
      <vt:lpstr>Chinook Project </vt:lpstr>
      <vt:lpstr>Agenda</vt:lpstr>
      <vt:lpstr>Problem Statement</vt:lpstr>
      <vt:lpstr>Introduction To Chinook</vt:lpstr>
      <vt:lpstr>Objectives</vt:lpstr>
      <vt:lpstr>Database Schema</vt:lpstr>
      <vt:lpstr>Data Description</vt:lpstr>
      <vt:lpstr>Data Description</vt:lpstr>
      <vt:lpstr>Data Description</vt:lpstr>
      <vt:lpstr>Customer Purchasing Behavior</vt:lpstr>
      <vt:lpstr>Top 5 Artist By Total Sales in USA</vt:lpstr>
      <vt:lpstr>Top 3 albums in USA to prioritize for advertising</vt:lpstr>
      <vt:lpstr>Customers who purchased tracks from at least 3 different genres</vt:lpstr>
      <vt:lpstr>Customer Churn Rate</vt:lpstr>
      <vt:lpstr>Average spending of per customer by country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Dhyanish Khanna</dc:creator>
  <cp:lastModifiedBy>Ansh Verma</cp:lastModifiedBy>
  <cp:revision>7</cp:revision>
  <dcterms:created xsi:type="dcterms:W3CDTF">2025-12-13T07:11:21Z</dcterms:created>
  <dcterms:modified xsi:type="dcterms:W3CDTF">2026-01-21T07:17:40Z</dcterms:modified>
</cp:coreProperties>
</file>